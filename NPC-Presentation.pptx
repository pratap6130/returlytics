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Poppins Bold" charset="1" panose="00000800000000000000"/>
      <p:regular r:id="rId13"/>
    </p:embeddedFont>
    <p:embeddedFont>
      <p:font typeface="Poppins Light" charset="1" panose="00000400000000000000"/>
      <p:regular r:id="rId14"/>
    </p:embeddedFont>
    <p:embeddedFont>
      <p:font typeface="Poppins" charset="1" panose="000005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7F7F6"/>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ln w="19050" cap="sq">
              <a:solidFill>
                <a:srgbClr val="000000"/>
              </a:solidFill>
              <a:prstDash val="solid"/>
              <a:miter/>
            </a:ln>
          </p:spPr>
        </p:sp>
        <p:sp>
          <p:nvSpPr>
            <p:cNvPr name="TextBox 4" id="4"/>
            <p:cNvSpPr txBox="true"/>
            <p:nvPr/>
          </p:nvSpPr>
          <p:spPr>
            <a:xfrm>
              <a:off x="0" y="-57150"/>
              <a:ext cx="4274726" cy="2224617"/>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3517340" y="3876675"/>
            <a:ext cx="11253320" cy="2181225"/>
          </a:xfrm>
          <a:prstGeom prst="rect">
            <a:avLst/>
          </a:prstGeom>
        </p:spPr>
        <p:txBody>
          <a:bodyPr anchor="t" rtlCol="false" tIns="0" lIns="0" bIns="0" rIns="0">
            <a:spAutoFit/>
          </a:bodyPr>
          <a:lstStyle/>
          <a:p>
            <a:pPr algn="ctr">
              <a:lnSpc>
                <a:spcPts val="16800"/>
              </a:lnSpc>
            </a:pPr>
            <a:r>
              <a:rPr lang="en-US" b="true" sz="12000">
                <a:solidFill>
                  <a:srgbClr val="000000"/>
                </a:solidFill>
                <a:latin typeface="Poppins Bold"/>
                <a:ea typeface="Poppins Bold"/>
                <a:cs typeface="Poppins Bold"/>
                <a:sym typeface="Poppins Bold"/>
              </a:rPr>
              <a:t>NPC</a:t>
            </a:r>
          </a:p>
        </p:txBody>
      </p:sp>
      <p:grpSp>
        <p:nvGrpSpPr>
          <p:cNvPr name="Group 6" id="6"/>
          <p:cNvGrpSpPr/>
          <p:nvPr/>
        </p:nvGrpSpPr>
        <p:grpSpPr>
          <a:xfrm rot="0">
            <a:off x="4155132" y="5913479"/>
            <a:ext cx="9977737" cy="47625"/>
            <a:chOff x="0" y="0"/>
            <a:chExt cx="2627881" cy="12543"/>
          </a:xfrm>
        </p:grpSpPr>
        <p:sp>
          <p:nvSpPr>
            <p:cNvPr name="Freeform 7" id="7"/>
            <p:cNvSpPr/>
            <p:nvPr/>
          </p:nvSpPr>
          <p:spPr>
            <a:xfrm flipH="false" flipV="false" rot="0">
              <a:off x="0" y="0"/>
              <a:ext cx="2627881" cy="12543"/>
            </a:xfrm>
            <a:custGeom>
              <a:avLst/>
              <a:gdLst/>
              <a:ahLst/>
              <a:cxnLst/>
              <a:rect r="r" b="b" t="t" l="l"/>
              <a:pathLst>
                <a:path h="12543" w="2627881">
                  <a:moveTo>
                    <a:pt x="0" y="0"/>
                  </a:moveTo>
                  <a:lnTo>
                    <a:pt x="2627881" y="0"/>
                  </a:lnTo>
                  <a:lnTo>
                    <a:pt x="2627881" y="12543"/>
                  </a:lnTo>
                  <a:lnTo>
                    <a:pt x="0" y="12543"/>
                  </a:lnTo>
                  <a:close/>
                </a:path>
              </a:pathLst>
            </a:custGeom>
            <a:solidFill>
              <a:srgbClr val="000000"/>
            </a:solidFill>
          </p:spPr>
        </p:sp>
        <p:sp>
          <p:nvSpPr>
            <p:cNvPr name="TextBox 8" id="8"/>
            <p:cNvSpPr txBox="true"/>
            <p:nvPr/>
          </p:nvSpPr>
          <p:spPr>
            <a:xfrm>
              <a:off x="0" y="-57150"/>
              <a:ext cx="2627881" cy="6969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5869019" y="6018341"/>
            <a:ext cx="6549961" cy="651510"/>
          </a:xfrm>
          <a:prstGeom prst="rect">
            <a:avLst/>
          </a:prstGeom>
        </p:spPr>
        <p:txBody>
          <a:bodyPr anchor="t" rtlCol="false" tIns="0" lIns="0" bIns="0" rIns="0">
            <a:spAutoFit/>
          </a:bodyPr>
          <a:lstStyle/>
          <a:p>
            <a:pPr algn="ctr">
              <a:lnSpc>
                <a:spcPts val="5040"/>
              </a:lnSpc>
            </a:pPr>
            <a:r>
              <a:rPr lang="en-US" sz="3600" spc="900">
                <a:solidFill>
                  <a:srgbClr val="000000"/>
                </a:solidFill>
                <a:latin typeface="Poppins Light"/>
                <a:ea typeface="Poppins Light"/>
                <a:cs typeface="Poppins Light"/>
                <a:sym typeface="Poppins Light"/>
              </a:rPr>
              <a:t>PRESENTATION</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7F7F6"/>
        </a:solidFill>
      </p:bgPr>
    </p:bg>
    <p:spTree>
      <p:nvGrpSpPr>
        <p:cNvPr id="1" name=""/>
        <p:cNvGrpSpPr/>
        <p:nvPr/>
      </p:nvGrpSpPr>
      <p:grpSpPr>
        <a:xfrm>
          <a:off x="0" y="0"/>
          <a:ext cx="0" cy="0"/>
          <a:chOff x="0" y="0"/>
          <a:chExt cx="0" cy="0"/>
        </a:xfrm>
      </p:grpSpPr>
      <p:sp>
        <p:nvSpPr>
          <p:cNvPr name="TextBox 2" id="2"/>
          <p:cNvSpPr txBox="true"/>
          <p:nvPr/>
        </p:nvSpPr>
        <p:spPr>
          <a:xfrm rot="0">
            <a:off x="1028700" y="866775"/>
            <a:ext cx="13042992" cy="1010285"/>
          </a:xfrm>
          <a:prstGeom prst="rect">
            <a:avLst/>
          </a:prstGeom>
        </p:spPr>
        <p:txBody>
          <a:bodyPr anchor="t" rtlCol="false" tIns="0" lIns="0" bIns="0" rIns="0">
            <a:spAutoFit/>
          </a:bodyPr>
          <a:lstStyle/>
          <a:p>
            <a:pPr algn="l">
              <a:lnSpc>
                <a:spcPts val="7840"/>
              </a:lnSpc>
            </a:pPr>
            <a:r>
              <a:rPr lang="en-US" sz="5600">
                <a:solidFill>
                  <a:srgbClr val="000000"/>
                </a:solidFill>
                <a:latin typeface="Poppins"/>
                <a:ea typeface="Poppins"/>
                <a:cs typeface="Poppins"/>
                <a:sym typeface="Poppins"/>
              </a:rPr>
              <a:t>PROBLEM STATEMENT &amp; OBJECTIVES</a:t>
            </a:r>
          </a:p>
        </p:txBody>
      </p:sp>
      <p:sp>
        <p:nvSpPr>
          <p:cNvPr name="TextBox 3" id="3"/>
          <p:cNvSpPr txBox="true"/>
          <p:nvPr/>
        </p:nvSpPr>
        <p:spPr>
          <a:xfrm rot="0">
            <a:off x="1028700" y="2520315"/>
            <a:ext cx="15203752" cy="1313069"/>
          </a:xfrm>
          <a:prstGeom prst="rect">
            <a:avLst/>
          </a:prstGeom>
        </p:spPr>
        <p:txBody>
          <a:bodyPr anchor="t" rtlCol="false" tIns="0" lIns="0" bIns="0" rIns="0">
            <a:spAutoFit/>
          </a:bodyPr>
          <a:lstStyle/>
          <a:p>
            <a:pPr algn="l">
              <a:lnSpc>
                <a:spcPts val="3427"/>
              </a:lnSpc>
            </a:pPr>
            <a:r>
              <a:rPr lang="en-US" sz="2447">
                <a:solidFill>
                  <a:srgbClr val="000000"/>
                </a:solidFill>
                <a:latin typeface="Poppins"/>
                <a:ea typeface="Poppins"/>
                <a:cs typeface="Poppins"/>
                <a:sym typeface="Poppins"/>
              </a:rPr>
              <a:t>We predict whether an e‑commerce order is likely to be returned at the time of purchase. Th</a:t>
            </a:r>
            <a:r>
              <a:rPr lang="en-US" sz="2447">
                <a:solidFill>
                  <a:srgbClr val="000000"/>
                </a:solidFill>
                <a:latin typeface="Poppins"/>
                <a:ea typeface="Poppins"/>
                <a:cs typeface="Poppins"/>
                <a:sym typeface="Poppins"/>
              </a:rPr>
              <a:t>is helps the business reduce logistics costs and margin loss by flagging high‑risk orders early and taking preventive actions.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7F7F6"/>
        </a:solidFill>
      </p:bgPr>
    </p:bg>
    <p:spTree>
      <p:nvGrpSpPr>
        <p:cNvPr id="1" name=""/>
        <p:cNvGrpSpPr/>
        <p:nvPr/>
      </p:nvGrpSpPr>
      <p:grpSpPr>
        <a:xfrm>
          <a:off x="0" y="0"/>
          <a:ext cx="0" cy="0"/>
          <a:chOff x="0" y="0"/>
          <a:chExt cx="0" cy="0"/>
        </a:xfrm>
      </p:grpSpPr>
      <p:sp>
        <p:nvSpPr>
          <p:cNvPr name="TextBox 2" id="2"/>
          <p:cNvSpPr txBox="true"/>
          <p:nvPr/>
        </p:nvSpPr>
        <p:spPr>
          <a:xfrm rot="0">
            <a:off x="1028700" y="876300"/>
            <a:ext cx="8115300" cy="1943830"/>
          </a:xfrm>
          <a:prstGeom prst="rect">
            <a:avLst/>
          </a:prstGeom>
        </p:spPr>
        <p:txBody>
          <a:bodyPr anchor="t" rtlCol="false" tIns="0" lIns="0" bIns="0" rIns="0">
            <a:spAutoFit/>
          </a:bodyPr>
          <a:lstStyle/>
          <a:p>
            <a:pPr algn="l">
              <a:lnSpc>
                <a:spcPts val="7637"/>
              </a:lnSpc>
            </a:pPr>
            <a:r>
              <a:rPr lang="en-US" sz="5455">
                <a:solidFill>
                  <a:srgbClr val="000000"/>
                </a:solidFill>
                <a:latin typeface="Poppins"/>
                <a:ea typeface="Poppins"/>
                <a:cs typeface="Poppins"/>
                <a:sym typeface="Poppins"/>
              </a:rPr>
              <a:t>DATASET &amp; FEATURES</a:t>
            </a:r>
          </a:p>
          <a:p>
            <a:pPr algn="l">
              <a:lnSpc>
                <a:spcPts val="7637"/>
              </a:lnSpc>
            </a:pPr>
          </a:p>
        </p:txBody>
      </p:sp>
      <p:sp>
        <p:nvSpPr>
          <p:cNvPr name="TextBox 3" id="3"/>
          <p:cNvSpPr txBox="true"/>
          <p:nvPr/>
        </p:nvSpPr>
        <p:spPr>
          <a:xfrm rot="0">
            <a:off x="1028700" y="2252346"/>
            <a:ext cx="15718250" cy="1750385"/>
          </a:xfrm>
          <a:prstGeom prst="rect">
            <a:avLst/>
          </a:prstGeom>
        </p:spPr>
        <p:txBody>
          <a:bodyPr anchor="t" rtlCol="false" tIns="0" lIns="0" bIns="0" rIns="0">
            <a:spAutoFit/>
          </a:bodyPr>
          <a:lstStyle/>
          <a:p>
            <a:pPr algn="l">
              <a:lnSpc>
                <a:spcPts val="3435"/>
              </a:lnSpc>
            </a:pPr>
            <a:r>
              <a:rPr lang="en-US" sz="2454">
                <a:solidFill>
                  <a:srgbClr val="000000"/>
                </a:solidFill>
                <a:latin typeface="Poppins"/>
                <a:ea typeface="Poppins"/>
                <a:cs typeface="Poppins"/>
                <a:sym typeface="Poppins"/>
              </a:rPr>
              <a:t>We</a:t>
            </a:r>
            <a:r>
              <a:rPr lang="en-US" sz="2454">
                <a:solidFill>
                  <a:srgbClr val="000000"/>
                </a:solidFill>
                <a:latin typeface="Poppins"/>
                <a:ea typeface="Poppins"/>
                <a:cs typeface="Poppins"/>
                <a:sym typeface="Poppins"/>
              </a:rPr>
              <a:t> us</a:t>
            </a:r>
            <a:r>
              <a:rPr lang="en-US" sz="2454">
                <a:solidFill>
                  <a:srgbClr val="000000"/>
                </a:solidFill>
                <a:latin typeface="Poppins"/>
                <a:ea typeface="Poppins"/>
                <a:cs typeface="Poppins"/>
                <a:sym typeface="Poppins"/>
              </a:rPr>
              <a:t>e a synthetic order dataset with product, customer, payment, shipping, and discount information. From this we engineer features like discount percentage and order value, which strongly influence the chance of a return.</a:t>
            </a:r>
          </a:p>
          <a:p>
            <a:pPr algn="l">
              <a:lnSpc>
                <a:spcPts val="3435"/>
              </a:lnSpc>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7F7F6"/>
        </a:solidFill>
      </p:bgPr>
    </p:bg>
    <p:spTree>
      <p:nvGrpSpPr>
        <p:cNvPr id="1" name=""/>
        <p:cNvGrpSpPr/>
        <p:nvPr/>
      </p:nvGrpSpPr>
      <p:grpSpPr>
        <a:xfrm>
          <a:off x="0" y="0"/>
          <a:ext cx="0" cy="0"/>
          <a:chOff x="0" y="0"/>
          <a:chExt cx="0" cy="0"/>
        </a:xfrm>
      </p:grpSpPr>
      <p:sp>
        <p:nvSpPr>
          <p:cNvPr name="TextBox 2" id="2"/>
          <p:cNvSpPr txBox="true"/>
          <p:nvPr/>
        </p:nvSpPr>
        <p:spPr>
          <a:xfrm rot="0">
            <a:off x="1028700" y="866775"/>
            <a:ext cx="10244745" cy="1010285"/>
          </a:xfrm>
          <a:prstGeom prst="rect">
            <a:avLst/>
          </a:prstGeom>
        </p:spPr>
        <p:txBody>
          <a:bodyPr anchor="t" rtlCol="false" tIns="0" lIns="0" bIns="0" rIns="0">
            <a:spAutoFit/>
          </a:bodyPr>
          <a:lstStyle/>
          <a:p>
            <a:pPr algn="l">
              <a:lnSpc>
                <a:spcPts val="7840"/>
              </a:lnSpc>
            </a:pPr>
            <a:r>
              <a:rPr lang="en-US" sz="5600">
                <a:solidFill>
                  <a:srgbClr val="000000"/>
                </a:solidFill>
                <a:latin typeface="Poppins"/>
                <a:ea typeface="Poppins"/>
                <a:cs typeface="Poppins"/>
                <a:sym typeface="Poppins"/>
              </a:rPr>
              <a:t>MODEL &amp; TRAINING PIPELINE</a:t>
            </a:r>
          </a:p>
        </p:txBody>
      </p:sp>
      <p:sp>
        <p:nvSpPr>
          <p:cNvPr name="TextBox 3" id="3"/>
          <p:cNvSpPr txBox="true"/>
          <p:nvPr/>
        </p:nvSpPr>
        <p:spPr>
          <a:xfrm rot="0">
            <a:off x="1028700" y="2685897"/>
            <a:ext cx="14525539" cy="1299330"/>
          </a:xfrm>
          <a:prstGeom prst="rect">
            <a:avLst/>
          </a:prstGeom>
        </p:spPr>
        <p:txBody>
          <a:bodyPr anchor="t" rtlCol="false" tIns="0" lIns="0" bIns="0" rIns="0">
            <a:spAutoFit/>
          </a:bodyPr>
          <a:lstStyle/>
          <a:p>
            <a:pPr algn="l">
              <a:lnSpc>
                <a:spcPts val="3435"/>
              </a:lnSpc>
            </a:pPr>
            <a:r>
              <a:rPr lang="en-US" sz="2453">
                <a:solidFill>
                  <a:srgbClr val="000000"/>
                </a:solidFill>
                <a:latin typeface="Poppins"/>
                <a:ea typeface="Poppins"/>
                <a:cs typeface="Poppins"/>
                <a:sym typeface="Poppins"/>
              </a:rPr>
              <a:t>The solution uses an XGBoost classifier trained on encoded categorical features and engineered numeric features. We evaluate it mainly with F1‑score and use a probability threshold to output a Yes/No return prediction.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7F6"/>
        </a:solidFill>
      </p:bgPr>
    </p:bg>
    <p:spTree>
      <p:nvGrpSpPr>
        <p:cNvPr id="1" name=""/>
        <p:cNvGrpSpPr/>
        <p:nvPr/>
      </p:nvGrpSpPr>
      <p:grpSpPr>
        <a:xfrm>
          <a:off x="0" y="0"/>
          <a:ext cx="0" cy="0"/>
          <a:chOff x="0" y="0"/>
          <a:chExt cx="0" cy="0"/>
        </a:xfrm>
      </p:grpSpPr>
      <p:sp>
        <p:nvSpPr>
          <p:cNvPr name="Freeform 2" id="2"/>
          <p:cNvSpPr/>
          <p:nvPr/>
        </p:nvSpPr>
        <p:spPr>
          <a:xfrm flipH="false" flipV="false" rot="5332569">
            <a:off x="16780920" y="8849597"/>
            <a:ext cx="438102" cy="510163"/>
          </a:xfrm>
          <a:custGeom>
            <a:avLst/>
            <a:gdLst/>
            <a:ahLst/>
            <a:cxnLst/>
            <a:rect r="r" b="b" t="t" l="l"/>
            <a:pathLst>
              <a:path h="510163" w="438102">
                <a:moveTo>
                  <a:pt x="0" y="0"/>
                </a:moveTo>
                <a:lnTo>
                  <a:pt x="438102" y="0"/>
                </a:lnTo>
                <a:lnTo>
                  <a:pt x="438102" y="510162"/>
                </a:lnTo>
                <a:lnTo>
                  <a:pt x="0" y="5101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847725"/>
            <a:ext cx="16439377" cy="2285365"/>
          </a:xfrm>
          <a:prstGeom prst="rect">
            <a:avLst/>
          </a:prstGeom>
        </p:spPr>
        <p:txBody>
          <a:bodyPr anchor="t" rtlCol="false" tIns="0" lIns="0" bIns="0" rIns="0">
            <a:spAutoFit/>
          </a:bodyPr>
          <a:lstStyle/>
          <a:p>
            <a:pPr algn="l">
              <a:lnSpc>
                <a:spcPts val="8959"/>
              </a:lnSpc>
            </a:pPr>
            <a:r>
              <a:rPr lang="en-US" sz="6399">
                <a:solidFill>
                  <a:srgbClr val="000000"/>
                </a:solidFill>
                <a:latin typeface="Poppins"/>
                <a:ea typeface="Poppins"/>
                <a:cs typeface="Poppins"/>
                <a:sym typeface="Poppins"/>
              </a:rPr>
              <a:t>SYSTEM ARCHITECTURE &amp; IMPLEMENTATION</a:t>
            </a:r>
          </a:p>
        </p:txBody>
      </p:sp>
      <p:sp>
        <p:nvSpPr>
          <p:cNvPr name="TextBox 4" id="4"/>
          <p:cNvSpPr txBox="true"/>
          <p:nvPr/>
        </p:nvSpPr>
        <p:spPr>
          <a:xfrm rot="0">
            <a:off x="1028700" y="3610719"/>
            <a:ext cx="15463421" cy="1720250"/>
          </a:xfrm>
          <a:prstGeom prst="rect">
            <a:avLst/>
          </a:prstGeom>
        </p:spPr>
        <p:txBody>
          <a:bodyPr anchor="t" rtlCol="false" tIns="0" lIns="0" bIns="0" rIns="0">
            <a:spAutoFit/>
          </a:bodyPr>
          <a:lstStyle/>
          <a:p>
            <a:pPr algn="just">
              <a:lnSpc>
                <a:spcPts val="3429"/>
              </a:lnSpc>
              <a:spcBef>
                <a:spcPct val="0"/>
              </a:spcBef>
            </a:pPr>
            <a:r>
              <a:rPr lang="en-US" sz="2449">
                <a:solidFill>
                  <a:srgbClr val="000000"/>
                </a:solidFill>
                <a:latin typeface="Poppins"/>
                <a:ea typeface="Poppins"/>
                <a:cs typeface="Poppins"/>
                <a:sym typeface="Poppins"/>
              </a:rPr>
              <a:t>The pipeline consists of a training script, a FastAPI backend, a Streamlit frontend, and SQLite for storing users and predictions. </a:t>
            </a:r>
          </a:p>
          <a:p>
            <a:pPr algn="just">
              <a:lnSpc>
                <a:spcPts val="3429"/>
              </a:lnSpc>
              <a:spcBef>
                <a:spcPct val="0"/>
              </a:spcBef>
            </a:pPr>
            <a:r>
              <a:rPr lang="en-US" sz="2449">
                <a:solidFill>
                  <a:srgbClr val="000000"/>
                </a:solidFill>
                <a:latin typeface="Poppins"/>
                <a:ea typeface="Poppins"/>
                <a:cs typeface="Poppins"/>
                <a:sym typeface="Poppins"/>
              </a:rPr>
              <a:t>Users log in, send order details to FastAPI, receive a color‑coded Yes/No prediction, and can explore insights through a dashboard.</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7F7F6"/>
        </a:solidFill>
      </p:bgPr>
    </p:bg>
    <p:spTree>
      <p:nvGrpSpPr>
        <p:cNvPr id="1" name=""/>
        <p:cNvGrpSpPr/>
        <p:nvPr/>
      </p:nvGrpSpPr>
      <p:grpSpPr>
        <a:xfrm>
          <a:off x="0" y="0"/>
          <a:ext cx="0" cy="0"/>
          <a:chOff x="0" y="0"/>
          <a:chExt cx="0" cy="0"/>
        </a:xfrm>
      </p:grpSpPr>
      <p:sp>
        <p:nvSpPr>
          <p:cNvPr name="TextBox 2" id="2"/>
          <p:cNvSpPr txBox="true"/>
          <p:nvPr/>
        </p:nvSpPr>
        <p:spPr>
          <a:xfrm rot="0">
            <a:off x="1028700" y="706806"/>
            <a:ext cx="12614436" cy="1151890"/>
          </a:xfrm>
          <a:prstGeom prst="rect">
            <a:avLst/>
          </a:prstGeom>
        </p:spPr>
        <p:txBody>
          <a:bodyPr anchor="t" rtlCol="false" tIns="0" lIns="0" bIns="0" rIns="0">
            <a:spAutoFit/>
          </a:bodyPr>
          <a:lstStyle/>
          <a:p>
            <a:pPr algn="l">
              <a:lnSpc>
                <a:spcPts val="8959"/>
              </a:lnSpc>
            </a:pPr>
            <a:r>
              <a:rPr lang="en-US" sz="6399">
                <a:solidFill>
                  <a:srgbClr val="000000"/>
                </a:solidFill>
                <a:latin typeface="Poppins"/>
                <a:ea typeface="Poppins"/>
                <a:cs typeface="Poppins"/>
                <a:sym typeface="Poppins"/>
              </a:rPr>
              <a:t> INSIGHTS &amp; BUSINESS ACTIONS</a:t>
            </a:r>
          </a:p>
        </p:txBody>
      </p:sp>
      <p:sp>
        <p:nvSpPr>
          <p:cNvPr name="TextBox 3" id="3"/>
          <p:cNvSpPr txBox="true"/>
          <p:nvPr/>
        </p:nvSpPr>
        <p:spPr>
          <a:xfrm rot="0">
            <a:off x="1310538" y="2558834"/>
            <a:ext cx="15428456" cy="1298656"/>
          </a:xfrm>
          <a:prstGeom prst="rect">
            <a:avLst/>
          </a:prstGeom>
        </p:spPr>
        <p:txBody>
          <a:bodyPr anchor="t" rtlCol="false" tIns="0" lIns="0" bIns="0" rIns="0">
            <a:spAutoFit/>
          </a:bodyPr>
          <a:lstStyle/>
          <a:p>
            <a:pPr algn="l">
              <a:lnSpc>
                <a:spcPts val="3433"/>
              </a:lnSpc>
            </a:pPr>
            <a:r>
              <a:rPr lang="en-US" sz="2452">
                <a:solidFill>
                  <a:srgbClr val="000000"/>
                </a:solidFill>
                <a:latin typeface="Poppins"/>
                <a:ea typeface="Poppins"/>
                <a:cs typeface="Poppins"/>
                <a:sym typeface="Poppins"/>
              </a:rPr>
              <a:t>Analysis shows that high discounts, certain categories, fast shipping methods, and some customer segments are more likely to generate returns. Based on this, we can tune discounts, improve product information, and adjust shipping and payment options to reduce future return rates.</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7F7F6"/>
        </a:solidFill>
      </p:bgPr>
    </p:bg>
    <p:spTree>
      <p:nvGrpSpPr>
        <p:cNvPr id="1" name=""/>
        <p:cNvGrpSpPr/>
        <p:nvPr/>
      </p:nvGrpSpPr>
      <p:grpSpPr>
        <a:xfrm>
          <a:off x="0" y="0"/>
          <a:ext cx="0" cy="0"/>
          <a:chOff x="0" y="0"/>
          <a:chExt cx="0" cy="0"/>
        </a:xfrm>
      </p:grpSpPr>
      <p:sp>
        <p:nvSpPr>
          <p:cNvPr name="TextBox 2" id="2"/>
          <p:cNvSpPr txBox="true"/>
          <p:nvPr/>
        </p:nvSpPr>
        <p:spPr>
          <a:xfrm rot="0">
            <a:off x="1149488" y="790575"/>
            <a:ext cx="8141604" cy="1454149"/>
          </a:xfrm>
          <a:prstGeom prst="rect">
            <a:avLst/>
          </a:prstGeom>
        </p:spPr>
        <p:txBody>
          <a:bodyPr anchor="t" rtlCol="false" tIns="0" lIns="0" bIns="0" rIns="0">
            <a:spAutoFit/>
          </a:bodyPr>
          <a:lstStyle/>
          <a:p>
            <a:pPr algn="l">
              <a:lnSpc>
                <a:spcPts val="11200"/>
              </a:lnSpc>
            </a:pPr>
            <a:r>
              <a:rPr lang="en-US" sz="8000">
                <a:solidFill>
                  <a:srgbClr val="000000"/>
                </a:solidFill>
                <a:latin typeface="Poppins"/>
                <a:ea typeface="Poppins"/>
                <a:cs typeface="Poppins"/>
                <a:sym typeface="Poppins"/>
              </a:rPr>
              <a:t>TEAM MEMBERS</a:t>
            </a:r>
          </a:p>
        </p:txBody>
      </p:sp>
      <p:sp>
        <p:nvSpPr>
          <p:cNvPr name="TextBox 3" id="3"/>
          <p:cNvSpPr txBox="true"/>
          <p:nvPr/>
        </p:nvSpPr>
        <p:spPr>
          <a:xfrm rot="0">
            <a:off x="1149488" y="2682484"/>
            <a:ext cx="4371823" cy="1828813"/>
          </a:xfrm>
          <a:prstGeom prst="rect">
            <a:avLst/>
          </a:prstGeom>
        </p:spPr>
        <p:txBody>
          <a:bodyPr anchor="t" rtlCol="false" tIns="0" lIns="0" bIns="0" rIns="0">
            <a:spAutoFit/>
          </a:bodyPr>
          <a:lstStyle/>
          <a:p>
            <a:pPr algn="just">
              <a:lnSpc>
                <a:spcPts val="3596"/>
              </a:lnSpc>
            </a:pPr>
            <a:r>
              <a:rPr lang="en-US" sz="2569">
                <a:solidFill>
                  <a:srgbClr val="000000"/>
                </a:solidFill>
                <a:latin typeface="Poppins"/>
                <a:ea typeface="Poppins"/>
                <a:cs typeface="Poppins"/>
                <a:sym typeface="Poppins"/>
              </a:rPr>
              <a:t>Amritanshu Kumar</a:t>
            </a:r>
          </a:p>
          <a:p>
            <a:pPr algn="just">
              <a:lnSpc>
                <a:spcPts val="3596"/>
              </a:lnSpc>
            </a:pPr>
            <a:r>
              <a:rPr lang="en-US" sz="2569">
                <a:solidFill>
                  <a:srgbClr val="000000"/>
                </a:solidFill>
                <a:latin typeface="Poppins"/>
                <a:ea typeface="Poppins"/>
                <a:cs typeface="Poppins"/>
                <a:sym typeface="Poppins"/>
              </a:rPr>
              <a:t>Utsav Gupta</a:t>
            </a:r>
          </a:p>
          <a:p>
            <a:pPr algn="just">
              <a:lnSpc>
                <a:spcPts val="3596"/>
              </a:lnSpc>
            </a:pPr>
            <a:r>
              <a:rPr lang="en-US" sz="2569">
                <a:solidFill>
                  <a:srgbClr val="000000"/>
                </a:solidFill>
                <a:latin typeface="Poppins"/>
                <a:ea typeface="Poppins"/>
                <a:cs typeface="Poppins"/>
                <a:sym typeface="Poppins"/>
              </a:rPr>
              <a:t>Aanchal Doshi</a:t>
            </a:r>
          </a:p>
          <a:p>
            <a:pPr algn="just">
              <a:lnSpc>
                <a:spcPts val="3596"/>
              </a:lnSpc>
            </a:pPr>
            <a:r>
              <a:rPr lang="en-US" sz="2569">
                <a:solidFill>
                  <a:srgbClr val="000000"/>
                </a:solidFill>
                <a:latin typeface="Poppins"/>
                <a:ea typeface="Poppins"/>
                <a:cs typeface="Poppins"/>
                <a:sym typeface="Poppins"/>
              </a:rPr>
              <a:t>Medhansh Singhal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DAHBwVfFap4</dc:identifier>
  <dcterms:modified xsi:type="dcterms:W3CDTF">2011-08-01T06:04:30Z</dcterms:modified>
  <cp:revision>1</cp:revision>
  <dc:title>NPC</dc:title>
</cp:coreProperties>
</file>